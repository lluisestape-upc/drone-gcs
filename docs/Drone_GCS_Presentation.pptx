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B3D6F">
              <a:alpha val="28000"/>
            </a:srgbClr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640080"/>
            <a:ext cx="3200400" cy="3200400"/>
          </a:xfrm>
          <a:prstGeom prst="ellipse">
            <a:avLst/>
          </a:prstGeom>
          <a:solidFill>
            <a:srgbClr val="4FC3F7">
              <a:alpha val="10000"/>
            </a:srgbClr>
          </a:solidFill>
          <a:ln w="12700">
            <a:solidFill>
              <a:srgbClr val="4FC3F7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82296" cy="25603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188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749808" y="2011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10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749808" y="2926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Ground Control System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34015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Navigation  ·  LiDAR SLAM Mapping  ·  Inventory Detection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D6F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77316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 ·  ROS2 Jazzy  ·  Electron  ·  Point-LIO SLAM  ·  MAVLink  ·  OpenCV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64008" cy="4389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7548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Drone GCS?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978408"/>
            <a:ext cx="8814816" cy="0"/>
          </a:xfrm>
          <a:prstGeom prst="line">
            <a:avLst/>
          </a:prstGeom>
          <a:noFill/>
          <a:ln w="12700">
            <a:solidFill>
              <a:srgbClr val="1B3D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complete ground control station for autonomous UAV operations.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Built on ROS2 + Electron, it runs on a Raspberry Pi 5 on board the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drone and streams all telemetry and video to a laptop over Wi-Fi.
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</a:rPr>
              <a:t>No internet needed — everything works on a local network.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697480"/>
            <a:ext cx="2011680" cy="960120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697480"/>
            <a:ext cx="45720" cy="9601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C3F7"/>
                </a:solidFill>
              </a:rPr>
              <a:t>📡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 Telemetry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MAVLink attitude, GPS, battery, speed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2697480"/>
            <a:ext cx="2011680" cy="960120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2697480"/>
            <a:ext cx="45720" cy="9601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7889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C3F7"/>
                </a:solidFill>
              </a:rPr>
              <a:t>🗺️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LiDAR SLAM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3D maps at 800 k pts/scan in real time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3749040"/>
            <a:ext cx="2011680" cy="960120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749040"/>
            <a:ext cx="45720" cy="9601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4048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C3F7"/>
                </a:solidFill>
              </a:rPr>
              <a:t>📷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Dual Camera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MJPEG dashboard + ROS barcode stream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68880" y="3749040"/>
            <a:ext cx="2011680" cy="960120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3749040"/>
            <a:ext cx="45720" cy="9601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384048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C3F7"/>
                </a:solidFill>
              </a:rPr>
              <a:t>📦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 Inventory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Barcode → SLAM position → SQLite DB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417320"/>
            <a:ext cx="4069080" cy="512064"/>
          </a:xfrm>
          <a:prstGeom prst="rect">
            <a:avLst/>
          </a:prstGeom>
          <a:solidFill>
            <a:srgbClr val="1A5E8A"/>
          </a:solidFill>
          <a:ln w="12700">
            <a:solidFill>
              <a:srgbClr val="1A5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4538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LiDAR Sensor
</a:t>
            </a:r>
            <a:pPr indent="0" marL="0">
              <a:buNone/>
            </a:pPr>
            <a:r>
              <a:rPr lang="en-US" sz="900" dirty="0">
                <a:solidFill>
                  <a:srgbClr val="A9CCE3"/>
                </a:solidFill>
              </a:rPr>
              <a:t>Unitree 4D  |  Ethernet eth0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1929384"/>
            <a:ext cx="0" cy="146304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075688"/>
            <a:ext cx="4069080" cy="512064"/>
          </a:xfrm>
          <a:prstGeom prst="rect">
            <a:avLst/>
          </a:prstGeom>
          <a:solidFill>
            <a:srgbClr val="1A5E8A"/>
          </a:solidFill>
          <a:ln w="12700">
            <a:solidFill>
              <a:srgbClr val="1A5E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1122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 Camera Module
</a:t>
            </a:r>
            <a:pPr indent="0" marL="0">
              <a:buNone/>
            </a:pPr>
            <a:r>
              <a:rPr lang="en-US" sz="900" dirty="0">
                <a:solidFill>
                  <a:srgbClr val="A9CCE3"/>
                </a:solidFill>
              </a:rPr>
              <a:t>picamera2  |  ROS topic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2587752"/>
            <a:ext cx="0" cy="146304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734056"/>
            <a:ext cx="4069080" cy="512064"/>
          </a:xfrm>
          <a:prstGeom prst="rect">
            <a:avLst/>
          </a:prstGeom>
          <a:solidFill>
            <a:srgbClr val="1B3D6F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7706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Raspberry Pi 5
</a:t>
            </a:r>
            <a:pPr indent="0" marL="0">
              <a:buNone/>
            </a:pPr>
            <a:r>
              <a:rPr lang="en-US" sz="900" dirty="0">
                <a:solidFill>
                  <a:srgbClr val="A9CCE3"/>
                </a:solidFill>
              </a:rPr>
              <a:t>ROS2 Jazzy  |  gcs_control.py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0" y="3246120"/>
            <a:ext cx="0" cy="146304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392424"/>
            <a:ext cx="4069080" cy="512064"/>
          </a:xfrm>
          <a:prstGeom prst="rect">
            <a:avLst/>
          </a:prstGeom>
          <a:solidFill>
            <a:srgbClr val="1A5E8A"/>
          </a:solidFill>
          <a:ln w="12700">
            <a:solidFill>
              <a:srgbClr val="1A5E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429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Pixhawk FC
</a:t>
            </a:r>
            <a:pPr indent="0" marL="0">
              <a:buNone/>
            </a:pPr>
            <a:r>
              <a:rPr lang="en-US" sz="900" dirty="0">
                <a:solidFill>
                  <a:srgbClr val="A9CCE3"/>
                </a:solidFill>
              </a:rPr>
              <a:t>ArduCopter  |  GPIO UART 57600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0" y="3904488"/>
            <a:ext cx="0" cy="146304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4050792"/>
            <a:ext cx="4069080" cy="512064"/>
          </a:xfrm>
          <a:prstGeom prst="rect">
            <a:avLst/>
          </a:prstGeom>
          <a:solidFill>
            <a:srgbClr val="0E6251"/>
          </a:solidFill>
          <a:ln w="12700">
            <a:solidFill>
              <a:srgbClr val="0E62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40873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GCS — Laptop
</a:t>
            </a:r>
            <a:pPr indent="0" marL="0">
              <a:buNone/>
            </a:pPr>
            <a:r>
              <a:rPr lang="en-US" sz="900" dirty="0">
                <a:solidFill>
                  <a:srgbClr val="A9CCE3"/>
                </a:solidFill>
              </a:rPr>
              <a:t>Electron  |  ws://Pi:9090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391363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/ rosbridge :9090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64008" cy="4389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7548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978408"/>
            <a:ext cx="8814816" cy="0"/>
          </a:xfrm>
          <a:prstGeom prst="line">
            <a:avLst/>
          </a:prstGeom>
          <a:noFill/>
          <a:ln w="12700">
            <a:solidFill>
              <a:srgbClr val="1B3D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" y="1033272"/>
            <a:ext cx="5321808" cy="3520440"/>
          </a:xfrm>
          <a:prstGeom prst="rect">
            <a:avLst/>
          </a:prstGeom>
          <a:solidFill>
            <a:srgbClr val="1B3D6F"/>
          </a:solidFill>
          <a:ln w="12700">
            <a:solidFill>
              <a:srgbClr val="1B3D6F"/>
            </a:solidFill>
            <a:prstDash val="solid"/>
          </a:ln>
        </p:spPr>
      </p:sp>
      <p:pic>
        <p:nvPicPr>
          <p:cNvPr id="6" name="Image 0" descr="C:\drone-gcs\docs\screenshots\screenshot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5266944" cy="34930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0" y="10515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24728" y="11155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🎮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ARM / DISARM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One-click arming via MAVLink command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15000" y="17373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24728" y="18013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📹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Camera Feed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MJPEG stream from forward camera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15000" y="24231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24728" y="24871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🗺️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Navigation Map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Real-time SLAM path + waypoints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715000" y="31089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24728" y="31729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⚙️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 Manager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Start/stop SLAM · MAVROS · Brain · Camera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15000" y="37947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24728" y="38587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🔋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Battery &amp; Motors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Voltage, charge %, thrust per motor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715000" y="44805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24728" y="45445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✈️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Flight Mode Control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GUIDED · LOITER · AUTO · STAB · RTL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64008" cy="4389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7548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Flight Navigation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978408"/>
            <a:ext cx="8814816" cy="0"/>
          </a:xfrm>
          <a:prstGeom prst="line">
            <a:avLst/>
          </a:prstGeom>
          <a:noFill/>
          <a:ln w="12700">
            <a:solidFill>
              <a:srgbClr val="1B3D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" y="1033272"/>
            <a:ext cx="5321808" cy="3520440"/>
          </a:xfrm>
          <a:prstGeom prst="rect">
            <a:avLst/>
          </a:prstGeom>
          <a:solidFill>
            <a:srgbClr val="1B3D6F"/>
          </a:solidFill>
          <a:ln w="12700">
            <a:solidFill>
              <a:srgbClr val="1B3D6F"/>
            </a:solidFill>
            <a:prstDash val="solid"/>
          </a:ln>
        </p:spPr>
      </p:sp>
      <p:pic>
        <p:nvPicPr>
          <p:cNvPr id="6" name="Image 0" descr="C:\drone-gcs\docs\screenshots\screenshot_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5266944" cy="34930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0" y="10515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24728" y="11155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🎯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Artificial Horizon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AHRS roll &amp; pitch visualisation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15000" y="17373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24728" y="18013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🧭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Compass Rose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Live magnetic heading indicator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15000" y="24231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24728" y="24871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📊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Charts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Altitude, airspeed &amp; vertical speed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715000" y="31089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24728" y="31729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📐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Attitude Data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Roll, pitch, yaw in real time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15000" y="37947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24728" y="38587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🛰️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GPS Status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Fix type, satellite count, coordinates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715000" y="44805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24728" y="45445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💨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Body Velocities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Vx · Vy · Vz from GLOBAL_POSITION_INT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64008" cy="4389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7548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LiDAR SLAM Mapping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978408"/>
            <a:ext cx="8814816" cy="0"/>
          </a:xfrm>
          <a:prstGeom prst="line">
            <a:avLst/>
          </a:prstGeom>
          <a:noFill/>
          <a:ln w="12700">
            <a:solidFill>
              <a:srgbClr val="1B3D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" y="1033272"/>
            <a:ext cx="5321808" cy="3520440"/>
          </a:xfrm>
          <a:prstGeom prst="rect">
            <a:avLst/>
          </a:prstGeom>
          <a:solidFill>
            <a:srgbClr val="1B3D6F"/>
          </a:solidFill>
          <a:ln w="12700">
            <a:solidFill>
              <a:srgbClr val="1B3D6F"/>
            </a:solidFill>
            <a:prstDash val="solid"/>
          </a:ln>
        </p:spPr>
      </p:sp>
      <p:pic>
        <p:nvPicPr>
          <p:cNvPr id="6" name="Image 0" descr="C:\drone-gcs\docs\screenshots\screenshot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5266944" cy="34930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0" y="10515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24728" y="11155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📡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800 000 Points/Scan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High-density 3D environment model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15000" y="17373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24728" y="18013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🧮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Point-LIO Algorithm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Tightly-coupled LiDAR-inertial odometry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15000" y="24231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24728" y="24871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📍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Pose Tracking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x, y, z + orientation at 4 Hz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715000" y="31089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24728" y="31729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🎨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Height Colormap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Red = high · Yellow = mid · Blue = low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15000" y="37947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24728" y="38587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💾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Map Export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Save occupancy scan to .pcd file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715000" y="44805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24728" y="45445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🔄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Loop Closure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Automatic drift correction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64008" cy="4389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7548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Inventory Detection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978408"/>
            <a:ext cx="8814816" cy="0"/>
          </a:xfrm>
          <a:prstGeom prst="line">
            <a:avLst/>
          </a:prstGeom>
          <a:noFill/>
          <a:ln w="12700">
            <a:solidFill>
              <a:srgbClr val="1B3D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" y="1033272"/>
            <a:ext cx="5321808" cy="3520440"/>
          </a:xfrm>
          <a:prstGeom prst="rect">
            <a:avLst/>
          </a:prstGeom>
          <a:solidFill>
            <a:srgbClr val="1B3D6F"/>
          </a:solidFill>
          <a:ln w="12700">
            <a:solidFill>
              <a:srgbClr val="1B3D6F"/>
            </a:solidFill>
            <a:prstDash val="solid"/>
          </a:ln>
        </p:spPr>
      </p:sp>
      <p:pic>
        <p:nvPicPr>
          <p:cNvPr id="6" name="Image 0" descr="C:\drone-gcs\docs\screenshots\screenshot_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5266944" cy="34930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0" y="10515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24728" y="11155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📦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Barcode + QR Detection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pyzbar + zlib, real-time recognition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15000" y="17373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24728" y="18013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📍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SLAM-Tagged Position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x, y, z coordinates logged per scan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15000" y="24231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24728" y="24871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🗄️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 DB Insert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SQLite record on every new detection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715000" y="31089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24728" y="31729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📊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CSV / Excel Export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Full inventory with position + timestamp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15000" y="37947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24728" y="38587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🔁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Dedup Filter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3-second re-scan protection per code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715000" y="4480560"/>
            <a:ext cx="3200400" cy="621792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24728" y="45445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</a:rPr>
              <a:t>🔲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ROI Overlay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Green polygon + label on detected codes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64008" cy="4389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47548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978408"/>
            <a:ext cx="8814816" cy="0"/>
          </a:xfrm>
          <a:prstGeom prst="line">
            <a:avLst/>
          </a:prstGeom>
          <a:noFill/>
          <a:ln w="12700">
            <a:solidFill>
              <a:srgbClr val="1B3D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51560"/>
            <a:ext cx="2029968" cy="402336"/>
          </a:xfrm>
          <a:prstGeom prst="rect">
            <a:avLst/>
          </a:prstGeom>
          <a:solidFill>
            <a:srgbClr val="1A5E8A"/>
          </a:solidFill>
          <a:ln w="12700">
            <a:solidFill>
              <a:srgbClr val="1A5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5156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453896"/>
            <a:ext cx="2029968" cy="3310128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67335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5636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— 8 GB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" y="226771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21579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Unitree 4D LiDAR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286207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27523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Camera Module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4048" y="345643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33467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Pixhawk FC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" y="405079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" y="39410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ArduCopter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386584" y="1051560"/>
            <a:ext cx="2029968" cy="40233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86584" y="105156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Software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386584" y="1453896"/>
            <a:ext cx="2029968" cy="3310128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167335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88336" y="15636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Jazzy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14600" y="226771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88336" y="21579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Point-LIO SLAM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14600" y="286207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88336" y="27523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pymavlink bridge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514600" y="345643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88336" y="33467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pyzbar / OpenCV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514600" y="405079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88336" y="39410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rosbridge WS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17136" y="1051560"/>
            <a:ext cx="2029968" cy="402336"/>
          </a:xfrm>
          <a:prstGeom prst="rect">
            <a:avLst/>
          </a:prstGeom>
          <a:solidFill>
            <a:srgbClr val="0E6251"/>
          </a:solidFill>
          <a:ln w="12700">
            <a:solidFill>
              <a:srgbClr val="0E62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17136" y="105156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App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17136" y="1453896"/>
            <a:ext cx="2029968" cy="3310128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45152" y="167335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15636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+ Node.js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645152" y="226771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21579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ROSLIB.js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45152" y="286207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27523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645152" y="345643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33467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645152" y="405079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39410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647688" y="1051560"/>
            <a:ext cx="2029968" cy="402336"/>
          </a:xfrm>
          <a:prstGeom prst="rect">
            <a:avLst/>
          </a:prstGeom>
          <a:solidFill>
            <a:srgbClr val="6E2F1A"/>
          </a:solidFill>
          <a:ln w="12700">
            <a:solidFill>
              <a:srgbClr val="6E2F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47688" y="105156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647688" y="1453896"/>
            <a:ext cx="2029968" cy="3310128"/>
          </a:xfrm>
          <a:prstGeom prst="rect">
            <a:avLst/>
          </a:prstGeom>
          <a:solidFill>
            <a:srgbClr val="122035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75704" y="167335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15636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MAVLink v2 (serial)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775704" y="226771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0" y="21579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rosbridge :9090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775704" y="286207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27523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 HTTP :8080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775704" y="345643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49440" y="33467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DDS / RTPS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775704" y="4050792"/>
            <a:ext cx="100584" cy="1005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49440" y="39410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command bus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1097280"/>
            <a:ext cx="4114800" cy="4114800"/>
          </a:xfrm>
          <a:prstGeom prst="ellipse">
            <a:avLst/>
          </a:prstGeom>
          <a:solidFill>
            <a:srgbClr val="1B3D6F">
              <a:alpha val="28000"/>
            </a:srgbClr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645920"/>
            <a:ext cx="3474720" cy="3474720"/>
          </a:xfrm>
          <a:prstGeom prst="ellipse">
            <a:avLst/>
          </a:prstGeom>
          <a:solidFill>
            <a:srgbClr val="4FC3F7">
              <a:alpha val="12000"/>
            </a:srgbClr>
          </a:solidFill>
          <a:ln w="12700">
            <a:solidFill>
              <a:srgbClr val="4FC3F7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time!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pts/scan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3108960"/>
            <a:ext cx="0" cy="822960"/>
          </a:xfrm>
          <a:prstGeom prst="line">
            <a:avLst/>
          </a:prstGeom>
          <a:noFill/>
          <a:ln w="12700">
            <a:solidFill>
              <a:srgbClr val="1B3D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3063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743200" y="3703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modules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3108960"/>
            <a:ext cx="0" cy="822960"/>
          </a:xfrm>
          <a:prstGeom prst="line">
            <a:avLst/>
          </a:prstGeom>
          <a:noFill/>
          <a:ln w="12700">
            <a:solidFill>
              <a:srgbClr val="1B3D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063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63440" y="3703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Jazzy middleware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92240" y="3108960"/>
            <a:ext cx="0" cy="822960"/>
          </a:xfrm>
          <a:prstGeom prst="line">
            <a:avLst/>
          </a:prstGeom>
          <a:noFill/>
          <a:ln w="12700">
            <a:solidFill>
              <a:srgbClr val="1B3D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063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83680" y="3703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cable needed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D6F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77316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GCS  ·  Autonomous Ground Control System  ·  UPC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Drone GCS — Autonomous Ground Control System</dc:title>
  <dc:subject>PptxGenJS Presentation</dc:subject>
  <dc:creator>Drone GCS Team</dc:creator>
  <cp:lastModifiedBy>Drone GCS Team</cp:lastModifiedBy>
  <cp:revision>1</cp:revision>
  <dcterms:created xsi:type="dcterms:W3CDTF">2026-06-05T14:35:24Z</dcterms:created>
  <dcterms:modified xsi:type="dcterms:W3CDTF">2026-06-05T14:35:24Z</dcterms:modified>
</cp:coreProperties>
</file>